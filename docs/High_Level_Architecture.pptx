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5CF6"/>
    <a:srgbClr val="3B82F6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2560320"/>
            <a:ext cx="12191695" cy="201168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Calibri"/>
              </a:defRPr>
            </a:pPr>
            <a:r>
              <a:t>Distributed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fault-tolerant, eventually-consistent system built with React · Spring Boot · RabbitMQ · H2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Four primary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05156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627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rPr dirty="0"/>
              <a:t>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/>
              <a:t>React 18 + Vite + Leaflet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83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CRUD UI &amp; map 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0332720" cy="105156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862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Backend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Spring Boot 3.x (Java 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017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REST API, local persistence, replication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23360"/>
            <a:ext cx="10332720" cy="105156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0965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Sync 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RabbitMQ 3.x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51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Async broadcast of mutation events (AMQP)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257800"/>
            <a:ext cx="10332720" cy="105156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5330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Persistence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Embedded H2 per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486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Local status_messages table per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Component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How the pieces connect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100584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0" y="15361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React + Leaflet SPA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HTTPS / TLS ·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00400"/>
            <a:ext cx="2560320" cy="118872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273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Node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Spring Boot + 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REST API · Publish/Consume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200400"/>
            <a:ext cx="2560320" cy="118872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3273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Node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rPr dirty="0"/>
              <a:t>Spring Boot + 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REST API · Publish/Consume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200400"/>
            <a:ext cx="2560320" cy="118872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3273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Node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Spring Boot + 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REST API · Publish/Consume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377440" y="2468880"/>
            <a:ext cx="3703320" cy="73152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035040" y="2468880"/>
            <a:ext cx="45720" cy="73152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2468880"/>
            <a:ext cx="3611880" cy="73152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00400" y="5029200"/>
            <a:ext cx="5760720" cy="100584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510235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8B5CF6"/>
                </a:solidFill>
                <a:latin typeface="Calibri"/>
              </a:defRPr>
            </a:pPr>
            <a:r>
              <a:t>RabbitMQ — Topic Exchange: status.sync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5321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AMQP Publish / Consume</a:t>
            </a:r>
          </a:p>
        </p:txBody>
      </p:sp>
      <p:cxnSp>
        <p:nvCxnSpPr>
          <p:cNvPr id="27" name="Connector 26"/>
          <p:cNvCxnSpPr>
            <a:cxnSpLocks/>
          </p:cNvCxnSpPr>
          <p:nvPr/>
        </p:nvCxnSpPr>
        <p:spPr>
          <a:xfrm flipH="1" flipV="1">
            <a:off x="2514600" y="4389120"/>
            <a:ext cx="742950" cy="713232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35040" y="4389120"/>
            <a:ext cx="0" cy="64008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</p:cNvCxnSpPr>
          <p:nvPr/>
        </p:nvCxnSpPr>
        <p:spPr>
          <a:xfrm flipH="1">
            <a:off x="8909050" y="4389120"/>
            <a:ext cx="783590" cy="713232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Component Descriptions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91440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React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431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 18 + Vite + Leaflet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rPr dirty="0"/>
              <a:t>Provides UI for CRUD operations on statuses; visualizes geodata on an interactive Leaflet 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698480" cy="91440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rPr dirty="0"/>
              <a:t>Spring Boot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Java 21 + Spring Boot 3.x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060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rPr dirty="0"/>
              <a:t>Hosts REST API, manages local H2 persistence, publishes/consumes replication events, handles bootstrapping.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698480" cy="91440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H2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rPr dirty="0"/>
              <a:t>Embedded H2 (file / in-memory)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57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Stores the status_messages table locally on each node — no shared external database.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17720"/>
            <a:ext cx="10698480" cy="91440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RabbitMQ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RabbitMQ 3.x (single instance)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709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Topic exchange 'status.sync' broadcasts mutation events to all subscribed node queues. Communication pipe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0698480" cy="91440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TLS / Keystore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80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Self-signed PKCS12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7607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Encrypts all client-server and internal REST traffic (HTTPS).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Interaction Flow — Client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Create / Update a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1</a:t>
            </a:r>
            <a:endParaRPr b="1" dirty="0"/>
          </a:p>
        </p:txBody>
      </p:sp>
      <p:sp>
        <p:nvSpPr>
          <p:cNvPr id="7" name="TextBox 6"/>
          <p:cNvSpPr txBox="1"/>
          <p:nvPr/>
        </p:nvSpPr>
        <p:spPr>
          <a:xfrm>
            <a:off x="1737360" y="15773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rPr dirty="0"/>
              <a:t>User submits status form in the React client.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2</a:t>
            </a:r>
            <a:endParaRPr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737360" y="22860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rPr dirty="0"/>
              <a:t>Client sends POST /</a:t>
            </a:r>
            <a:r>
              <a:rPr dirty="0" err="1"/>
              <a:t>api</a:t>
            </a:r>
            <a:r>
              <a:rPr dirty="0"/>
              <a:t>/status via HTTPS to Node 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2608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3</a:t>
            </a:r>
            <a:endParaRPr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737360" y="2971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rPr dirty="0"/>
              <a:t>Node A validates payload, persists to local H2, publishes </a:t>
            </a:r>
            <a:r>
              <a:rPr dirty="0" err="1"/>
              <a:t>StatusEvent</a:t>
            </a:r>
            <a:r>
              <a:rPr dirty="0"/>
              <a:t> to RabbitMQ.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1188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4</a:t>
            </a:r>
            <a:endParaRPr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737360" y="36545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RabbitMQ routes event to all node queues (queue.node-a, queue.node-b, …).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9768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5</a:t>
            </a:r>
            <a:endParaRPr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737360" y="433730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Node B &amp; Node C consume the event, apply LWW merge, update their local H2.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98348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6</a:t>
            </a:r>
            <a:endParaRPr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737360" y="502767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Node A returns 200 OK to the client immediately after local persistence.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5782818"/>
            <a:ext cx="9418320" cy="365760"/>
          </a:xfrm>
          <a:prstGeom prst="roundRect">
            <a:avLst/>
          </a:prstGeom>
          <a:solidFill>
            <a:srgbClr val="1B1F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dirty="0">
                <a:solidFill>
                  <a:srgbClr val="10B981"/>
                </a:solidFill>
              </a:rPr>
              <a:t>Client  →  Node A (</a:t>
            </a:r>
            <a:r>
              <a:rPr lang="de-AT" sz="1600" dirty="0" err="1">
                <a:solidFill>
                  <a:srgbClr val="10B981"/>
                </a:solidFill>
              </a:rPr>
              <a:t>write</a:t>
            </a:r>
            <a:r>
              <a:rPr lang="de-AT" sz="1600" dirty="0">
                <a:solidFill>
                  <a:srgbClr val="10B981"/>
                </a:solidFill>
              </a:rPr>
              <a:t>)  →  </a:t>
            </a:r>
            <a:r>
              <a:rPr lang="de-AT" sz="1600" dirty="0" err="1">
                <a:solidFill>
                  <a:srgbClr val="10B981"/>
                </a:solidFill>
              </a:rPr>
              <a:t>RabbitMQ</a:t>
            </a:r>
            <a:r>
              <a:rPr lang="de-AT" sz="1600" dirty="0">
                <a:solidFill>
                  <a:srgbClr val="10B981"/>
                </a:solidFill>
              </a:rPr>
              <a:t> (</a:t>
            </a:r>
            <a:r>
              <a:rPr lang="de-AT" sz="1600" dirty="0" err="1">
                <a:solidFill>
                  <a:srgbClr val="10B981"/>
                </a:solidFill>
              </a:rPr>
              <a:t>broadcast</a:t>
            </a:r>
            <a:r>
              <a:rPr lang="de-AT" sz="1600" dirty="0">
                <a:solidFill>
                  <a:srgbClr val="10B981"/>
                </a:solidFill>
              </a:rPr>
              <a:t>)  →  Node B, C (</a:t>
            </a:r>
            <a:r>
              <a:rPr lang="de-AT" sz="1600" dirty="0" err="1">
                <a:solidFill>
                  <a:srgbClr val="10B981"/>
                </a:solidFill>
              </a:rPr>
              <a:t>replicate</a:t>
            </a:r>
            <a:r>
              <a:rPr lang="de-AT" sz="1600" dirty="0">
                <a:solidFill>
                  <a:srgbClr val="10B981"/>
                </a:solidFill>
              </a:rPr>
              <a:t>)  |  Response: 200 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Interaction Flow — Client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Read a status with automatic failover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1</a:t>
            </a:r>
            <a:endParaRPr b="1" dirty="0"/>
          </a:p>
        </p:txBody>
      </p:sp>
      <p:sp>
        <p:nvSpPr>
          <p:cNvPr id="7" name="TextBox 6"/>
          <p:cNvSpPr txBox="1"/>
          <p:nvPr/>
        </p:nvSpPr>
        <p:spPr>
          <a:xfrm>
            <a:off x="1737360" y="173355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rPr dirty="0"/>
              <a:t>React client sends GET /</a:t>
            </a:r>
            <a:r>
              <a:rPr dirty="0" err="1"/>
              <a:t>api</a:t>
            </a:r>
            <a:r>
              <a:rPr dirty="0"/>
              <a:t>/status/{username} via HTTPS to Node 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2</a:t>
            </a:r>
            <a:endParaRPr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737360" y="245211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rPr dirty="0"/>
              <a:t>If Node A is unavailable, the client retries Node B (failover logic).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3</a:t>
            </a:r>
            <a:endParaRPr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737360" y="31775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The responding node queries its local H2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8620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4</a:t>
            </a:r>
            <a:endParaRPr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737360" y="398145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Node returns JSON status payload to the client.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6344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5</a:t>
            </a:r>
            <a:endParaRPr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737360" y="47853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rPr dirty="0"/>
              <a:t>React displays the status text and pans the Leaflet map to the coordinates.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710428"/>
            <a:ext cx="9418320" cy="416052"/>
          </a:xfrm>
          <a:prstGeom prst="roundRect">
            <a:avLst/>
          </a:prstGeom>
          <a:solidFill>
            <a:srgbClr val="1B1F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dirty="0">
                <a:solidFill>
                  <a:srgbClr val="3B82F6"/>
                </a:solidFill>
              </a:rPr>
              <a:t>Client  →  Node A (</a:t>
            </a:r>
            <a:r>
              <a:rPr lang="de-AT" sz="1600" dirty="0" err="1">
                <a:solidFill>
                  <a:srgbClr val="3B82F6"/>
                </a:solidFill>
              </a:rPr>
              <a:t>or</a:t>
            </a:r>
            <a:r>
              <a:rPr lang="de-AT" sz="1600" dirty="0">
                <a:solidFill>
                  <a:srgbClr val="3B82F6"/>
                </a:solidFill>
              </a:rPr>
              <a:t> </a:t>
            </a:r>
            <a:r>
              <a:rPr lang="de-AT" sz="1600" dirty="0" err="1">
                <a:solidFill>
                  <a:srgbClr val="3B82F6"/>
                </a:solidFill>
              </a:rPr>
              <a:t>failover</a:t>
            </a:r>
            <a:r>
              <a:rPr lang="de-AT" sz="1600" dirty="0">
                <a:solidFill>
                  <a:srgbClr val="3B82F6"/>
                </a:solidFill>
              </a:rPr>
              <a:t> </a:t>
            </a:r>
            <a:r>
              <a:rPr lang="de-AT" sz="1600" dirty="0" err="1">
                <a:solidFill>
                  <a:srgbClr val="3B82F6"/>
                </a:solidFill>
              </a:rPr>
              <a:t>to</a:t>
            </a:r>
            <a:r>
              <a:rPr lang="de-AT" sz="1600" dirty="0">
                <a:solidFill>
                  <a:srgbClr val="3B82F6"/>
                </a:solidFill>
              </a:rPr>
              <a:t> B)  →  </a:t>
            </a:r>
            <a:r>
              <a:rPr lang="de-AT" sz="1600" dirty="0" err="1">
                <a:solidFill>
                  <a:srgbClr val="3B82F6"/>
                </a:solidFill>
              </a:rPr>
              <a:t>Local</a:t>
            </a:r>
            <a:r>
              <a:rPr lang="de-AT" sz="1600" dirty="0">
                <a:solidFill>
                  <a:srgbClr val="3B82F6"/>
                </a:solidFill>
              </a:rPr>
              <a:t> H2 </a:t>
            </a:r>
            <a:r>
              <a:rPr lang="de-AT" sz="1600" dirty="0" err="1">
                <a:solidFill>
                  <a:srgbClr val="3B82F6"/>
                </a:solidFill>
              </a:rPr>
              <a:t>query</a:t>
            </a:r>
            <a:r>
              <a:rPr lang="de-AT" sz="1600" dirty="0">
                <a:solidFill>
                  <a:srgbClr val="3B82F6"/>
                </a:solidFill>
              </a:rPr>
              <a:t>  →  JSON </a:t>
            </a:r>
            <a:r>
              <a:rPr lang="de-AT" sz="1600" dirty="0" err="1">
                <a:solidFill>
                  <a:srgbClr val="3B82F6"/>
                </a:solidFill>
              </a:rPr>
              <a:t>response</a:t>
            </a:r>
            <a:r>
              <a:rPr lang="de-AT" sz="1600" dirty="0">
                <a:solidFill>
                  <a:srgbClr val="3B82F6"/>
                </a:solidFill>
              </a:rPr>
              <a:t>  →  </a:t>
            </a:r>
            <a:r>
              <a:rPr lang="de-AT" sz="1600" dirty="0" err="1">
                <a:solidFill>
                  <a:srgbClr val="3B82F6"/>
                </a:solidFill>
              </a:rPr>
              <a:t>Leaflet</a:t>
            </a:r>
            <a:r>
              <a:rPr lang="de-AT" sz="1600" dirty="0">
                <a:solidFill>
                  <a:srgbClr val="3B82F6"/>
                </a:solidFill>
              </a:rPr>
              <a:t> </a:t>
            </a:r>
            <a:r>
              <a:rPr lang="de-AT" sz="1600" dirty="0" err="1">
                <a:solidFill>
                  <a:srgbClr val="3B82F6"/>
                </a:solidFill>
              </a:rPr>
              <a:t>map</a:t>
            </a:r>
            <a:r>
              <a:rPr lang="de-AT" sz="1600" dirty="0">
                <a:solidFill>
                  <a:srgbClr val="3B82F6"/>
                </a:solidFill>
              </a:rPr>
              <a:t> </a:t>
            </a:r>
            <a:r>
              <a:rPr lang="de-AT" sz="1600" dirty="0" err="1">
                <a:solidFill>
                  <a:srgbClr val="3B82F6"/>
                </a:solidFill>
              </a:rPr>
              <a:t>render</a:t>
            </a:r>
            <a:endParaRPr lang="de-AT" sz="1600" dirty="0">
              <a:solidFill>
                <a:srgbClr val="3B82F6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Interaction Flow — Node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Grace period for new nodes joining the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1</a:t>
            </a:r>
            <a:endParaRPr b="1" dirty="0"/>
          </a:p>
        </p:txBody>
      </p:sp>
      <p:sp>
        <p:nvSpPr>
          <p:cNvPr id="7" name="TextBox 6"/>
          <p:cNvSpPr txBox="1"/>
          <p:nvPr/>
        </p:nvSpPr>
        <p:spPr>
          <a:xfrm>
            <a:off x="1737360" y="162763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New node starts in BOOTSTRAPPING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2</a:t>
            </a:r>
            <a:endParaRPr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737360" y="240487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Sends GET /api/sync/all to a configured peer (e.g., Node 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3</a:t>
            </a:r>
            <a:endParaRPr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737360" y="31821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Bulk-inserts the received data into local H2 using Last-Writer-Wins.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8620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4</a:t>
            </a:r>
            <a:endParaRPr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737360" y="39593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Starts listening to RabbitMQ for ongoing replication events.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6344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/>
              <a:t>5</a:t>
            </a:r>
            <a:endParaRPr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737360" y="4736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State transitions to ACTIVE — node begins accepting client traffic.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760720"/>
            <a:ext cx="9418320" cy="457200"/>
          </a:xfrm>
          <a:prstGeom prst="roundRect">
            <a:avLst/>
          </a:prstGeom>
          <a:solidFill>
            <a:srgbClr val="1B1F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dirty="0">
                <a:solidFill>
                  <a:srgbClr val="8B5CF6"/>
                </a:solidFill>
              </a:rPr>
              <a:t>BOOTSTRAPPING  →  Peer </a:t>
            </a:r>
            <a:r>
              <a:rPr lang="de-AT" sz="1600" dirty="0" err="1">
                <a:solidFill>
                  <a:srgbClr val="8B5CF6"/>
                </a:solidFill>
              </a:rPr>
              <a:t>sync</a:t>
            </a:r>
            <a:r>
              <a:rPr lang="de-AT" sz="1600" dirty="0">
                <a:solidFill>
                  <a:srgbClr val="8B5CF6"/>
                </a:solidFill>
              </a:rPr>
              <a:t> (REST)  →  LWW </a:t>
            </a:r>
            <a:r>
              <a:rPr lang="de-AT" sz="1600" dirty="0" err="1">
                <a:solidFill>
                  <a:srgbClr val="8B5CF6"/>
                </a:solidFill>
              </a:rPr>
              <a:t>merge</a:t>
            </a:r>
            <a:r>
              <a:rPr lang="de-AT" sz="1600" dirty="0">
                <a:solidFill>
                  <a:srgbClr val="8B5CF6"/>
                </a:solidFill>
              </a:rPr>
              <a:t>  →  </a:t>
            </a:r>
            <a:r>
              <a:rPr lang="de-AT" sz="1600" dirty="0" err="1">
                <a:solidFill>
                  <a:srgbClr val="8B5CF6"/>
                </a:solidFill>
              </a:rPr>
              <a:t>Subscribe</a:t>
            </a:r>
            <a:r>
              <a:rPr lang="de-AT" sz="1600" dirty="0">
                <a:solidFill>
                  <a:srgbClr val="8B5CF6"/>
                </a:solidFill>
              </a:rPr>
              <a:t> </a:t>
            </a:r>
            <a:r>
              <a:rPr lang="de-AT" sz="1600" dirty="0" err="1">
                <a:solidFill>
                  <a:srgbClr val="8B5CF6"/>
                </a:solidFill>
              </a:rPr>
              <a:t>RabbitMQ</a:t>
            </a:r>
            <a:r>
              <a:rPr lang="de-AT" sz="1600" dirty="0">
                <a:solidFill>
                  <a:srgbClr val="8B5CF6"/>
                </a:solidFill>
              </a:rPr>
              <a:t>  →  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Design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Key architectural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128016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Decentralized Writes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rPr dirty="0"/>
              <a:t>Any node can accept mutations — no single master eliminates a write-time Single Point of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10332720" cy="128016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2461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Eventual Consistency via Async Replication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Fire-and-forget AMQP broadcast gives fast client response times while nodes converge in &lt; 15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663440"/>
            <a:ext cx="10332720" cy="1280160"/>
          </a:xfrm>
          <a:prstGeom prst="roundRect">
            <a:avLst/>
          </a:prstGeom>
          <a:solidFill>
            <a:srgbClr val="1B1F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Local Persistence per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21208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H2 requires zero external installation; each node serves reads independently even if RabbitMQ is temporarily down.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Office PowerPoint</Application>
  <PresentationFormat>Breitbild</PresentationFormat>
  <Paragraphs>105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Abdulhadi Rajeh</cp:lastModifiedBy>
  <cp:revision>2</cp:revision>
  <dcterms:created xsi:type="dcterms:W3CDTF">2013-01-27T09:14:16Z</dcterms:created>
  <dcterms:modified xsi:type="dcterms:W3CDTF">2026-04-23T18:53:37Z</dcterms:modified>
  <cp:category/>
</cp:coreProperties>
</file>